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4" r:id="rId4"/>
    <p:sldMasterId id="2147483655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6858000" cx="9144000"/>
  <p:notesSz cx="7559675" cy="106918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281488" y="0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:notes"/>
          <p:cNvSpPr/>
          <p:nvPr>
            <p:ph idx="2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2:notes"/>
          <p:cNvSpPr/>
          <p:nvPr>
            <p:ph idx="2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3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:notes"/>
          <p:cNvSpPr/>
          <p:nvPr>
            <p:ph idx="2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5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6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6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7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7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8:notes"/>
          <p:cNvSpPr/>
          <p:nvPr>
            <p:ph idx="2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9:notes"/>
          <p:cNvSpPr/>
          <p:nvPr>
            <p:ph idx="2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itkara Layout">
  <p:cSld name="Chitkara Layou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"/>
          <p:cNvSpPr txBox="1"/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"/>
          <p:cNvSpPr txBox="1"/>
          <p:nvPr>
            <p:ph idx="10" type="dt"/>
          </p:nvPr>
        </p:nvSpPr>
        <p:spPr>
          <a:xfrm>
            <a:off x="69633" y="6562107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"/>
          <p:cNvSpPr txBox="1"/>
          <p:nvPr>
            <p:ph idx="11" type="ftr"/>
          </p:nvPr>
        </p:nvSpPr>
        <p:spPr>
          <a:xfrm>
            <a:off x="3124079" y="6566396"/>
            <a:ext cx="3577504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"/>
          <p:cNvSpPr txBox="1"/>
          <p:nvPr>
            <p:ph idx="12" type="sldNum"/>
          </p:nvPr>
        </p:nvSpPr>
        <p:spPr>
          <a:xfrm>
            <a:off x="7010640" y="6562107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None/>
              <a:defRPr b="0" sz="120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None/>
              <a:defRPr b="0" sz="120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None/>
              <a:defRPr b="0" sz="120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None/>
              <a:defRPr b="0" sz="120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None/>
              <a:defRPr b="0" sz="120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None/>
              <a:defRPr b="0" sz="120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None/>
              <a:defRPr b="0" sz="120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None/>
              <a:defRPr b="0" sz="120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None/>
              <a:defRPr b="0" sz="120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"/>
          <p:cNvSpPr txBox="1"/>
          <p:nvPr>
            <p:ph idx="1"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itkara Layout">
  <p:cSld name="Chitkara Layou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6"/>
          <p:cNvSpPr txBox="1"/>
          <p:nvPr>
            <p:ph type="title"/>
          </p:nvPr>
        </p:nvSpPr>
        <p:spPr>
          <a:xfrm>
            <a:off x="0" y="0"/>
            <a:ext cx="6476700" cy="8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6"/>
          <p:cNvSpPr txBox="1"/>
          <p:nvPr>
            <p:ph idx="10" type="dt"/>
          </p:nvPr>
        </p:nvSpPr>
        <p:spPr>
          <a:xfrm>
            <a:off x="69633" y="6562107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6"/>
          <p:cNvSpPr txBox="1"/>
          <p:nvPr>
            <p:ph idx="11" type="ftr"/>
          </p:nvPr>
        </p:nvSpPr>
        <p:spPr>
          <a:xfrm>
            <a:off x="3124079" y="6566396"/>
            <a:ext cx="35775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6"/>
          <p:cNvSpPr txBox="1"/>
          <p:nvPr>
            <p:ph idx="12" type="sldNum"/>
          </p:nvPr>
        </p:nvSpPr>
        <p:spPr>
          <a:xfrm>
            <a:off x="7010640" y="6562107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None/>
              <a:defRPr b="0" sz="120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None/>
              <a:defRPr b="0" sz="120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None/>
              <a:defRPr b="0" sz="120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None/>
              <a:defRPr b="0" sz="120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None/>
              <a:defRPr b="0" sz="120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None/>
              <a:defRPr b="0" sz="120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None/>
              <a:defRPr b="0" sz="120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None/>
              <a:defRPr b="0" sz="120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None/>
              <a:defRPr b="0" sz="120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8"/>
          <p:cNvSpPr txBox="1"/>
          <p:nvPr>
            <p:ph type="title"/>
          </p:nvPr>
        </p:nvSpPr>
        <p:spPr>
          <a:xfrm>
            <a:off x="0" y="0"/>
            <a:ext cx="54861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457200" y="1604520"/>
            <a:ext cx="8229300" cy="39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9.jp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9.jpg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slideLayout" Target="../slideLayouts/slideLayout6.xml"/><Relationship Id="rId6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"/>
          <p:cNvSpPr/>
          <p:nvPr/>
        </p:nvSpPr>
        <p:spPr>
          <a:xfrm flipH="1" rot="10800000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.gif" id="12" name="Google Shape;12;p1"/>
          <p:cNvPicPr preferRelativeResize="0"/>
          <p:nvPr/>
        </p:nvPicPr>
        <p:blipFill rotWithShape="1">
          <a:blip r:embed="rId1">
            <a:alphaModFix/>
          </a:blip>
          <a:srcRect b="10718" l="0" r="0" t="0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.gif" id="13" name="Google Shape;13;p1"/>
          <p:cNvPicPr preferRelativeResize="0"/>
          <p:nvPr/>
        </p:nvPicPr>
        <p:blipFill rotWithShape="1">
          <a:blip r:embed="rId1">
            <a:alphaModFix/>
          </a:blip>
          <a:srcRect b="10718" l="0" r="0" t="0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1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5" name="Google Shape;15;p1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LOGO.gif" id="16" name="Google Shape;16;p1"/>
            <p:cNvPicPr preferRelativeResize="0"/>
            <p:nvPr/>
          </p:nvPicPr>
          <p:blipFill rotWithShape="1">
            <a:blip r:embed="rId1">
              <a:alphaModFix/>
            </a:blip>
            <a:srcRect b="10718" l="0" r="0" t="0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" name="Google Shape;17;p1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logo.jpg" id="18" name="Google Shape;18;p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.gif" id="19" name="Google Shape;19;p1"/>
          <p:cNvPicPr preferRelativeResize="0"/>
          <p:nvPr/>
        </p:nvPicPr>
        <p:blipFill rotWithShape="1">
          <a:blip r:embed="rId1">
            <a:alphaModFix/>
          </a:blip>
          <a:srcRect b="10718" l="0" r="0" t="0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" name="Google Shape;20;p1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21" name="Google Shape;21;p1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LOGO.gif" id="22" name="Google Shape;22;p1"/>
            <p:cNvPicPr preferRelativeResize="0"/>
            <p:nvPr/>
          </p:nvPicPr>
          <p:blipFill rotWithShape="1">
            <a:blip r:embed="rId1">
              <a:alphaModFix/>
            </a:blip>
            <a:srcRect b="10718" l="0" r="0" t="0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" name="Google Shape;23;p1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logo.jpg" id="24" name="Google Shape;24;p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1"/>
          <p:cNvSpPr txBox="1"/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6" name="Google Shape;26;p1"/>
          <p:cNvSpPr txBox="1"/>
          <p:nvPr>
            <p:ph idx="1"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" name="Google Shape;27;p1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" name="Google Shape;28;p1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" name="Google Shape;29;p1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None/>
              <a:defRPr b="0" sz="120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None/>
              <a:defRPr b="0" sz="120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None/>
              <a:defRPr b="0" sz="120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None/>
              <a:defRPr b="0" sz="120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None/>
              <a:defRPr b="0" sz="120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None/>
              <a:defRPr b="0" sz="120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None/>
              <a:defRPr b="0" sz="120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None/>
              <a:defRPr b="0" sz="120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None/>
              <a:defRPr b="0" sz="120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3"/>
    <p:sldLayoutId id="2147483649" r:id="rId4"/>
    <p:sldLayoutId id="2147483650" r:id="rId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/>
          <p:nvPr/>
        </p:nvSpPr>
        <p:spPr>
          <a:xfrm>
            <a:off x="0" y="0"/>
            <a:ext cx="9143700" cy="83760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5"/>
          <p:cNvSpPr/>
          <p:nvPr/>
        </p:nvSpPr>
        <p:spPr>
          <a:xfrm flipH="1" rot="10800000">
            <a:off x="0" y="6704580"/>
            <a:ext cx="9143700" cy="1977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.gif" id="42" name="Google Shape;42;p5"/>
          <p:cNvPicPr preferRelativeResize="0"/>
          <p:nvPr/>
        </p:nvPicPr>
        <p:blipFill rotWithShape="1">
          <a:blip r:embed="rId1">
            <a:alphaModFix/>
          </a:blip>
          <a:srcRect b="10714" l="0" r="0" t="0"/>
          <a:stretch/>
        </p:blipFill>
        <p:spPr>
          <a:xfrm>
            <a:off x="6553080" y="228600"/>
            <a:ext cx="2057039" cy="634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.gif" id="43" name="Google Shape;43;p5"/>
          <p:cNvPicPr preferRelativeResize="0"/>
          <p:nvPr/>
        </p:nvPicPr>
        <p:blipFill rotWithShape="1">
          <a:blip r:embed="rId1">
            <a:alphaModFix/>
          </a:blip>
          <a:srcRect b="10714" l="0" r="0" t="0"/>
          <a:stretch/>
        </p:blipFill>
        <p:spPr>
          <a:xfrm>
            <a:off x="6553080" y="228600"/>
            <a:ext cx="2057039" cy="6346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4" name="Google Shape;44;p5"/>
          <p:cNvGrpSpPr/>
          <p:nvPr/>
        </p:nvGrpSpPr>
        <p:grpSpPr>
          <a:xfrm>
            <a:off x="6146640" y="0"/>
            <a:ext cx="2997000" cy="875940"/>
            <a:chOff x="6146640" y="0"/>
            <a:chExt cx="2997000" cy="875940"/>
          </a:xfrm>
        </p:grpSpPr>
        <p:sp>
          <p:nvSpPr>
            <p:cNvPr id="45" name="Google Shape;45;p5"/>
            <p:cNvSpPr/>
            <p:nvPr/>
          </p:nvSpPr>
          <p:spPr>
            <a:xfrm>
              <a:off x="6146640" y="0"/>
              <a:ext cx="2997000" cy="83760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LOGO.gif" id="46" name="Google Shape;46;p5"/>
            <p:cNvPicPr preferRelativeResize="0"/>
            <p:nvPr/>
          </p:nvPicPr>
          <p:blipFill rotWithShape="1">
            <a:blip r:embed="rId1">
              <a:alphaModFix/>
            </a:blip>
            <a:srcRect b="10714" l="0" r="0" t="0"/>
            <a:stretch/>
          </p:blipFill>
          <p:spPr>
            <a:xfrm>
              <a:off x="6553080" y="228600"/>
              <a:ext cx="2057039" cy="6346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" name="Google Shape;47;p5"/>
            <p:cNvSpPr/>
            <p:nvPr/>
          </p:nvSpPr>
          <p:spPr>
            <a:xfrm>
              <a:off x="6527880" y="190440"/>
              <a:ext cx="2076000" cy="685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logo.jpg" id="48" name="Google Shape;48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.gif" id="49" name="Google Shape;49;p5"/>
          <p:cNvPicPr preferRelativeResize="0"/>
          <p:nvPr/>
        </p:nvPicPr>
        <p:blipFill rotWithShape="1">
          <a:blip r:embed="rId1">
            <a:alphaModFix/>
          </a:blip>
          <a:srcRect b="10714" l="0" r="0" t="0"/>
          <a:stretch/>
        </p:blipFill>
        <p:spPr>
          <a:xfrm>
            <a:off x="6553080" y="228600"/>
            <a:ext cx="2057039" cy="6346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0" name="Google Shape;50;p5"/>
          <p:cNvGrpSpPr/>
          <p:nvPr/>
        </p:nvGrpSpPr>
        <p:grpSpPr>
          <a:xfrm>
            <a:off x="6146640" y="0"/>
            <a:ext cx="2997000" cy="875940"/>
            <a:chOff x="6146640" y="0"/>
            <a:chExt cx="2997000" cy="875940"/>
          </a:xfrm>
        </p:grpSpPr>
        <p:sp>
          <p:nvSpPr>
            <p:cNvPr id="51" name="Google Shape;51;p5"/>
            <p:cNvSpPr/>
            <p:nvPr/>
          </p:nvSpPr>
          <p:spPr>
            <a:xfrm>
              <a:off x="6146640" y="0"/>
              <a:ext cx="2997000" cy="83760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LOGO.gif" id="52" name="Google Shape;52;p5"/>
            <p:cNvPicPr preferRelativeResize="0"/>
            <p:nvPr/>
          </p:nvPicPr>
          <p:blipFill rotWithShape="1">
            <a:blip r:embed="rId1">
              <a:alphaModFix/>
            </a:blip>
            <a:srcRect b="10714" l="0" r="0" t="0"/>
            <a:stretch/>
          </p:blipFill>
          <p:spPr>
            <a:xfrm>
              <a:off x="6553080" y="228600"/>
              <a:ext cx="2057039" cy="6346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" name="Google Shape;53;p5"/>
            <p:cNvSpPr/>
            <p:nvPr/>
          </p:nvSpPr>
          <p:spPr>
            <a:xfrm>
              <a:off x="6527880" y="190440"/>
              <a:ext cx="2076000" cy="685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logo.jpg" id="54" name="Google Shape;54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5"/>
          <p:cNvSpPr txBox="1"/>
          <p:nvPr>
            <p:ph type="title"/>
          </p:nvPr>
        </p:nvSpPr>
        <p:spPr>
          <a:xfrm>
            <a:off x="0" y="0"/>
            <a:ext cx="6476700" cy="8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6" name="Google Shape;56;p5"/>
          <p:cNvSpPr txBox="1"/>
          <p:nvPr>
            <p:ph idx="1" type="body"/>
          </p:nvPr>
        </p:nvSpPr>
        <p:spPr>
          <a:xfrm>
            <a:off x="457200" y="1371600"/>
            <a:ext cx="8229300" cy="45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7" name="Google Shape;57;p5"/>
          <p:cNvSpPr txBox="1"/>
          <p:nvPr>
            <p:ph idx="10" type="dt"/>
          </p:nvPr>
        </p:nvSpPr>
        <p:spPr>
          <a:xfrm>
            <a:off x="45720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8" name="Google Shape;58;p5"/>
          <p:cNvSpPr txBox="1"/>
          <p:nvPr>
            <p:ph idx="11" type="ftr"/>
          </p:nvPr>
        </p:nvSpPr>
        <p:spPr>
          <a:xfrm>
            <a:off x="3124080" y="6356520"/>
            <a:ext cx="28950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9" name="Google Shape;59;p5"/>
          <p:cNvSpPr txBox="1"/>
          <p:nvPr>
            <p:ph idx="12" type="sldNum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buNone/>
              <a:defRPr b="0" sz="120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buNone/>
              <a:defRPr b="0" sz="120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buNone/>
              <a:defRPr b="0" sz="120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buNone/>
              <a:defRPr b="0" sz="120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buNone/>
              <a:defRPr b="0" sz="120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buNone/>
              <a:defRPr b="0" sz="120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buNone/>
              <a:defRPr b="0" sz="120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buNone/>
              <a:defRPr b="0" sz="120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buNone/>
              <a:defRPr b="0" sz="120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3"/>
    <p:sldLayoutId id="2147483652" r:id="rId4"/>
    <p:sldLayoutId id="2147483653" r:id="rId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13.png"/><Relationship Id="rId5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9"/>
          <p:cNvSpPr txBox="1"/>
          <p:nvPr>
            <p:ph type="title"/>
          </p:nvPr>
        </p:nvSpPr>
        <p:spPr>
          <a:xfrm>
            <a:off x="0" y="0"/>
            <a:ext cx="4742700" cy="69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 </a:t>
            </a:r>
            <a:endParaRPr sz="4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9"/>
          <p:cNvSpPr txBox="1"/>
          <p:nvPr/>
        </p:nvSpPr>
        <p:spPr>
          <a:xfrm>
            <a:off x="0" y="1287525"/>
            <a:ext cx="9144000" cy="47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Presentation of Co-Op Project at Industry (Module-1)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</a:t>
            </a:r>
            <a:endParaRPr/>
          </a:p>
          <a:p>
            <a:pPr indent="0" lvl="0" marL="0" marR="0" rtl="0" algn="ctr">
              <a:spcBef>
                <a:spcPts val="800"/>
              </a:spcBef>
              <a:spcAft>
                <a:spcPts val="0"/>
              </a:spcAft>
              <a:buNone/>
            </a:pPr>
            <a:r>
              <a:rPr b="1" lang="en-US" sz="3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Verification Debt: Trust and Reliability</a:t>
            </a:r>
            <a:br>
              <a:rPr b="1" lang="en-US" sz="3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3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 AI-Generated Code</a:t>
            </a:r>
            <a:endParaRPr/>
          </a:p>
          <a:p>
            <a:pPr indent="0" lvl="0" marL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Archita Garg  |  Anshika Mahajan  | 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2210991336  |  2210991304  |  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Supervised By</a:t>
            </a:r>
            <a:endParaRPr/>
          </a:p>
          <a:p>
            <a:pPr indent="0" lvl="0" marL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Rajat Takkar, Chitkara University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and Engineering,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Chitkara University, Punjab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0"/>
          <p:cNvSpPr txBox="1"/>
          <p:nvPr>
            <p:ph type="title"/>
          </p:nvPr>
        </p:nvSpPr>
        <p:spPr>
          <a:xfrm>
            <a:off x="0" y="0"/>
            <a:ext cx="4125300" cy="68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 </a:t>
            </a:r>
            <a:endParaRPr sz="4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0"/>
          <p:cNvSpPr txBox="1"/>
          <p:nvPr/>
        </p:nvSpPr>
        <p:spPr>
          <a:xfrm>
            <a:off x="164000" y="154625"/>
            <a:ext cx="6312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 &amp; Objective</a:t>
            </a:r>
            <a:endParaRPr b="1"/>
          </a:p>
        </p:txBody>
      </p:sp>
      <p:sp>
        <p:nvSpPr>
          <p:cNvPr id="81" name="Google Shape;81;p10"/>
          <p:cNvSpPr txBox="1"/>
          <p:nvPr/>
        </p:nvSpPr>
        <p:spPr>
          <a:xfrm>
            <a:off x="6769390" y="6592494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82" name="Google Shape;82;p10"/>
          <p:cNvSpPr txBox="1"/>
          <p:nvPr/>
        </p:nvSpPr>
        <p:spPr>
          <a:xfrm>
            <a:off x="164000" y="1050000"/>
            <a:ext cx="8612100" cy="24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AI code tools (Copilot, ChatGPT, Claude) now used by 92% of developers; Copilot generates  ~46% of code in enabled files.</a:t>
            </a:r>
            <a:endParaRPr sz="12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~40% of AI-generated code has security flaws; 42% silent failure rate (Stanford CodeHallucinate benchmark).</a:t>
            </a:r>
            <a:endParaRPr sz="12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We define "Verification Debt" — the accumulated risk from accepting AI-generated code without proper verification.</a:t>
            </a:r>
            <a:endParaRPr sz="12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Empirical study of 1,000 human-AI interactions across 6 AI models (ChatGPT-3.5, GPT-4, Claude, Gemini, Llama, Mistral) and 12 query categories.</a:t>
            </a:r>
            <a:endParaRPr sz="12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Goal: Quantify the calibration gap, identify debt drivers, and propose mitigation strategies.</a:t>
            </a:r>
            <a:endParaRPr sz="1200"/>
          </a:p>
        </p:txBody>
      </p:sp>
      <p:pic>
        <p:nvPicPr>
          <p:cNvPr descr="fig9_framework.png" id="83" name="Google Shape;83;p10"/>
          <p:cNvPicPr preferRelativeResize="0"/>
          <p:nvPr/>
        </p:nvPicPr>
        <p:blipFill rotWithShape="1">
          <a:blip r:embed="rId3">
            <a:alphaModFix/>
          </a:blip>
          <a:srcRect b="0" l="1710" r="0" t="11111"/>
          <a:stretch/>
        </p:blipFill>
        <p:spPr>
          <a:xfrm>
            <a:off x="1602825" y="3882590"/>
            <a:ext cx="5897174" cy="2830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1"/>
          <p:cNvSpPr txBox="1"/>
          <p:nvPr/>
        </p:nvSpPr>
        <p:spPr>
          <a:xfrm>
            <a:off x="170800" y="105100"/>
            <a:ext cx="8516100" cy="585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Methodology</a:t>
            </a:r>
            <a:endParaRPr b="1" sz="3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" name="Google Shape;89;p11"/>
          <p:cNvSpPr txBox="1"/>
          <p:nvPr/>
        </p:nvSpPr>
        <p:spPr>
          <a:xfrm>
            <a:off x="6769390" y="6592494"/>
            <a:ext cx="21333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</p:txBody>
      </p:sp>
      <p:sp>
        <p:nvSpPr>
          <p:cNvPr id="90" name="Google Shape;90;p11"/>
          <p:cNvSpPr txBox="1"/>
          <p:nvPr/>
        </p:nvSpPr>
        <p:spPr>
          <a:xfrm>
            <a:off x="457200" y="1143000"/>
            <a:ext cx="4191000" cy="1436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3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Dataset &amp; Models</a:t>
            </a:r>
            <a:endParaRPr b="1" sz="153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165" lvl="0" marL="457200" rtl="0" algn="l">
              <a:spcBef>
                <a:spcPts val="750"/>
              </a:spcBef>
              <a:spcAft>
                <a:spcPts val="0"/>
              </a:spcAft>
              <a:buClr>
                <a:srgbClr val="333333"/>
              </a:buClr>
              <a:buSzPts val="1190"/>
              <a:buFont typeface="Times New Roman"/>
              <a:buChar char="●"/>
            </a:pPr>
            <a:r>
              <a:rPr lang="en-US" sz="119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Dataset: AI Skepticism Dataset — 1,000 transcripts, 23 variables.</a:t>
            </a:r>
            <a:endParaRPr sz="119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165" lvl="0" marL="457200" rtl="0" algn="l">
              <a:spcBef>
                <a:spcPts val="375"/>
              </a:spcBef>
              <a:spcAft>
                <a:spcPts val="0"/>
              </a:spcAft>
              <a:buClr>
                <a:srgbClr val="333333"/>
              </a:buClr>
              <a:buSzPts val="1190"/>
              <a:buFont typeface="Times New Roman"/>
              <a:buChar char="●"/>
            </a:pPr>
            <a:r>
              <a:rPr lang="en-US" sz="119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 AI Models: ChatGPT, GPT-4, Claude, Gemini, Llama, Mistral.</a:t>
            </a:r>
            <a:endParaRPr sz="119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165" lvl="0" marL="457200" rtl="0" algn="l">
              <a:spcBef>
                <a:spcPts val="375"/>
              </a:spcBef>
              <a:spcAft>
                <a:spcPts val="0"/>
              </a:spcAft>
              <a:buClr>
                <a:srgbClr val="333333"/>
              </a:buClr>
              <a:buSzPts val="1190"/>
              <a:buFont typeface="Times New Roman"/>
              <a:buChar char="●"/>
            </a:pPr>
            <a:r>
              <a:rPr lang="en-US" sz="119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 Query Categories: math, coding, medical, legal, etc.</a:t>
            </a:r>
            <a:endParaRPr sz="119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" name="Google Shape;91;p11"/>
          <p:cNvSpPr txBox="1"/>
          <p:nvPr/>
        </p:nvSpPr>
        <p:spPr>
          <a:xfrm>
            <a:off x="457200" y="2857500"/>
            <a:ext cx="4191000" cy="1423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Analysis Methods</a:t>
            </a:r>
            <a:endParaRPr b="1"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75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Times New Roman"/>
              <a:buChar char="●"/>
            </a:pPr>
            <a:r>
              <a:rPr lang="en-US" sz="14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Descriptive statistics + Pearson correlations</a:t>
            </a:r>
            <a:endParaRPr sz="14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375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Times New Roman"/>
              <a:buChar char="●"/>
            </a:pPr>
            <a:r>
              <a:rPr lang="en-US" sz="14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Group difference analysis (models, demographics)</a:t>
            </a:r>
            <a:endParaRPr sz="14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375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Times New Roman"/>
              <a:buChar char="●"/>
            </a:pPr>
            <a:r>
              <a:rPr lang="en-US" sz="14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Trust calibration assessment</a:t>
            </a:r>
            <a:endParaRPr sz="14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p11"/>
          <p:cNvSpPr txBox="1"/>
          <p:nvPr/>
        </p:nvSpPr>
        <p:spPr>
          <a:xfrm>
            <a:off x="4762500" y="1143000"/>
            <a:ext cx="4000500" cy="1343100"/>
          </a:xfrm>
          <a:prstGeom prst="rect">
            <a:avLst/>
          </a:prstGeom>
          <a:solidFill>
            <a:srgbClr val="F8F9FA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2875" lIns="142875" spcFirstLastPara="1" rIns="142875" wrap="square" tIns="1428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Verification Debt Formula:</a:t>
            </a:r>
            <a:endParaRPr b="1" sz="1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75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Vd = Σ P(di) × C(di) × (1 − V(i))</a:t>
            </a:r>
            <a:endParaRPr b="1" sz="18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P(di): defect probability; C(di): defect cost</a:t>
            </a:r>
            <a:endParaRPr sz="11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V(i): verification thoroughness [0,1]</a:t>
            </a:r>
            <a:endParaRPr sz="11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" name="Google Shape;93;p11"/>
          <p:cNvSpPr txBox="1"/>
          <p:nvPr/>
        </p:nvSpPr>
        <p:spPr>
          <a:xfrm>
            <a:off x="4762500" y="3215509"/>
            <a:ext cx="4000500" cy="860100"/>
          </a:xfrm>
          <a:prstGeom prst="rect">
            <a:avLst/>
          </a:prstGeom>
          <a:solidFill>
            <a:srgbClr val="F8F9FA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2875" lIns="142875" spcFirstLastPara="1" rIns="142875" wrap="square" tIns="1428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Calibration Gap:</a:t>
            </a:r>
            <a:endParaRPr b="1" sz="1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375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Gcal = (1/N) Σ |Conf(i) − Acc(i)|</a:t>
            </a:r>
            <a:endParaRPr b="1" sz="18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" name="Google Shape;94;p11"/>
          <p:cNvSpPr txBox="1"/>
          <p:nvPr/>
        </p:nvSpPr>
        <p:spPr>
          <a:xfrm>
            <a:off x="457200" y="4572000"/>
            <a:ext cx="4191000" cy="1471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Types of Verification Debt</a:t>
            </a:r>
            <a:endParaRPr b="1"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75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Times New Roman"/>
              <a:buChar char="●"/>
            </a:pPr>
            <a:r>
              <a:rPr b="1" lang="en-US" sz="14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Functional:</a:t>
            </a:r>
            <a:r>
              <a:rPr lang="en-US" sz="14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edge case failures</a:t>
            </a:r>
            <a:endParaRPr sz="14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375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Times New Roman"/>
              <a:buChar char="●"/>
            </a:pPr>
            <a:r>
              <a:rPr b="1" lang="en-US" sz="14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Security:</a:t>
            </a:r>
            <a:r>
              <a:rPr lang="en-US" sz="14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code vulnerabilities</a:t>
            </a:r>
            <a:endParaRPr sz="14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375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Times New Roman"/>
              <a:buChar char="●"/>
            </a:pPr>
            <a:r>
              <a:rPr b="1" lang="en-US" sz="14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Specification:</a:t>
            </a:r>
            <a:r>
              <a:rPr lang="en-US" sz="14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intent mismatch</a:t>
            </a:r>
            <a:endParaRPr sz="14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375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Times New Roman"/>
              <a:buChar char="●"/>
            </a:pPr>
            <a:r>
              <a:rPr b="1" lang="en-US" sz="14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Maintenance:</a:t>
            </a:r>
            <a:r>
              <a:rPr lang="en-US" sz="14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poor code structure</a:t>
            </a:r>
            <a:endParaRPr sz="14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2"/>
          <p:cNvSpPr txBox="1"/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 </a:t>
            </a:r>
            <a:endParaRPr sz="4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2"/>
          <p:cNvSpPr txBox="1"/>
          <p:nvPr/>
        </p:nvSpPr>
        <p:spPr>
          <a:xfrm>
            <a:off x="200000" y="180475"/>
            <a:ext cx="62769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Findings</a:t>
            </a:r>
            <a:endParaRPr b="1"/>
          </a:p>
        </p:txBody>
      </p:sp>
      <p:sp>
        <p:nvSpPr>
          <p:cNvPr id="101" name="Google Shape;101;p12"/>
          <p:cNvSpPr txBox="1"/>
          <p:nvPr/>
        </p:nvSpPr>
        <p:spPr>
          <a:xfrm>
            <a:off x="6769390" y="6592494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/>
          </a:p>
        </p:txBody>
      </p:sp>
      <p:pic>
        <p:nvPicPr>
          <p:cNvPr descr="key_stats.png" id="102" name="Google Shape;10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0000" y="950000"/>
            <a:ext cx="8700000" cy="206752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ig2_confidence_vs_accuracy.png" id="103" name="Google Shape;103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0000" y="3017525"/>
            <a:ext cx="4300001" cy="3382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ig1_trust_by_model.png" id="104" name="Google Shape;104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00000" y="3017525"/>
            <a:ext cx="4300000" cy="3382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3"/>
          <p:cNvSpPr txBox="1"/>
          <p:nvPr>
            <p:ph type="title"/>
          </p:nvPr>
        </p:nvSpPr>
        <p:spPr>
          <a:xfrm>
            <a:off x="0" y="0"/>
            <a:ext cx="6476700" cy="8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 </a:t>
            </a:r>
            <a:endParaRPr sz="4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3"/>
          <p:cNvSpPr txBox="1"/>
          <p:nvPr/>
        </p:nvSpPr>
        <p:spPr>
          <a:xfrm>
            <a:off x="170800" y="190500"/>
            <a:ext cx="8516100" cy="588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7625" lIns="95250" spcFirstLastPara="1" rIns="95250" wrap="square" tIns="476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Verification Behavior</a:t>
            </a:r>
            <a:endParaRPr b="1" sz="3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" name="Google Shape;111;p13"/>
          <p:cNvSpPr txBox="1"/>
          <p:nvPr/>
        </p:nvSpPr>
        <p:spPr>
          <a:xfrm>
            <a:off x="6553200" y="6381750"/>
            <a:ext cx="2133600" cy="280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7625" lIns="95250" spcFirstLastPara="1" rIns="95250" wrap="square" tIns="476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sz="1200">
              <a:solidFill>
                <a:srgbClr val="6666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2" name="Google Shape;112;p13"/>
          <p:cNvSpPr txBox="1"/>
          <p:nvPr/>
        </p:nvSpPr>
        <p:spPr>
          <a:xfrm>
            <a:off x="457200" y="1047750"/>
            <a:ext cx="3810000" cy="1462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7625" lIns="95250" spcFirstLastPara="1" rIns="95250" wrap="square" tIns="476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Times New Roman"/>
              <a:buChar char="●"/>
            </a:pPr>
            <a:r>
              <a:rPr lang="en-US" sz="14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37.2% of users never verify AI output.</a:t>
            </a:r>
            <a:endParaRPr sz="14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75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Times New Roman"/>
              <a:buChar char="●"/>
            </a:pPr>
            <a:r>
              <a:rPr lang="en-US" sz="14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Average verification time: 14.8 minutes.</a:t>
            </a:r>
            <a:endParaRPr sz="14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75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Times New Roman"/>
              <a:buChar char="●"/>
            </a:pPr>
            <a:r>
              <a:rPr lang="en-US" sz="14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26.4% “Blind Trust” users (65% calibrated).</a:t>
            </a:r>
            <a:endParaRPr sz="14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75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Times New Roman"/>
              <a:buChar char="●"/>
            </a:pPr>
            <a:r>
              <a:rPr lang="en-US" sz="14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Only 5.7% are “Highly Skeptical” (82% calibrated).</a:t>
            </a:r>
            <a:endParaRPr sz="14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3" name="Google Shape;113;p13"/>
          <p:cNvPicPr preferRelativeResize="0"/>
          <p:nvPr/>
        </p:nvPicPr>
        <p:blipFill rotWithShape="1">
          <a:blip r:embed="rId3">
            <a:alphaModFix/>
          </a:blip>
          <a:srcRect b="11444" l="0" r="0" t="11444"/>
          <a:stretch/>
        </p:blipFill>
        <p:spPr>
          <a:xfrm>
            <a:off x="4572000" y="1047750"/>
            <a:ext cx="4114800" cy="238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3"/>
          <p:cNvPicPr preferRelativeResize="0"/>
          <p:nvPr/>
        </p:nvPicPr>
        <p:blipFill rotWithShape="1">
          <a:blip r:embed="rId4">
            <a:alphaModFix/>
          </a:blip>
          <a:srcRect b="9755" l="0" r="0" t="0"/>
          <a:stretch/>
        </p:blipFill>
        <p:spPr>
          <a:xfrm>
            <a:off x="457200" y="3552785"/>
            <a:ext cx="8229600" cy="299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4"/>
          <p:cNvSpPr txBox="1"/>
          <p:nvPr/>
        </p:nvSpPr>
        <p:spPr>
          <a:xfrm>
            <a:off x="170800" y="223350"/>
            <a:ext cx="8516100" cy="492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95250" spcFirstLastPara="1" rIns="9525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Domain &amp; Model Analysis</a:t>
            </a:r>
            <a:endParaRPr b="1" i="0" sz="3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0" name="Google Shape;120;p14"/>
          <p:cNvPicPr preferRelativeResize="0"/>
          <p:nvPr/>
        </p:nvPicPr>
        <p:blipFill rotWithShape="1">
          <a:blip r:embed="rId4">
            <a:alphaModFix/>
          </a:blip>
          <a:srcRect b="0" l="2893" r="2883" t="0"/>
          <a:stretch/>
        </p:blipFill>
        <p:spPr>
          <a:xfrm>
            <a:off x="302175" y="1047750"/>
            <a:ext cx="4155600" cy="337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4"/>
          <p:cNvPicPr preferRelativeResize="0"/>
          <p:nvPr/>
        </p:nvPicPr>
        <p:blipFill rotWithShape="1">
          <a:blip r:embed="rId5">
            <a:alphaModFix/>
          </a:blip>
          <a:srcRect b="0" l="8195" r="8186" t="0"/>
          <a:stretch/>
        </p:blipFill>
        <p:spPr>
          <a:xfrm>
            <a:off x="4686300" y="1047750"/>
            <a:ext cx="4155600" cy="3274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4"/>
          <p:cNvSpPr txBox="1"/>
          <p:nvPr/>
        </p:nvSpPr>
        <p:spPr>
          <a:xfrm>
            <a:off x="457200" y="4719802"/>
            <a:ext cx="8229600" cy="992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95250" lIns="95250" spcFirstLastPara="1" rIns="95250" wrap="square" tIns="952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Highest debt: Current Events (+10.73%) and Opinion-Based (+10.52%) — AI most overconfident here.</a:t>
            </a:r>
            <a:endParaRPr b="0" i="0" sz="14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Technical Coding (−0.71%) and Math (89.66% accuracy) — AI is well-calibrated in these domains.</a:t>
            </a:r>
            <a:endParaRPr b="0" i="0" sz="14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Claude &amp; GPT-4: lowest debt (1.60%, 1.65%); Llama: highest (2.92%); Mistral: best calibration (76%).</a:t>
            </a:r>
            <a:endParaRPr b="0" i="0" sz="14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3" name="Google Shape;123;p14"/>
          <p:cNvSpPr txBox="1"/>
          <p:nvPr/>
        </p:nvSpPr>
        <p:spPr>
          <a:xfrm>
            <a:off x="7734300" y="6477000"/>
            <a:ext cx="952500" cy="184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95250" spcFirstLastPara="1" rIns="9525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 b="0" i="0" sz="1200">
              <a:solidFill>
                <a:srgbClr val="6666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5"/>
          <p:cNvSpPr txBox="1"/>
          <p:nvPr>
            <p:ph type="title"/>
          </p:nvPr>
        </p:nvSpPr>
        <p:spPr>
          <a:xfrm>
            <a:off x="0" y="0"/>
            <a:ext cx="6476700" cy="8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 </a:t>
            </a:r>
            <a:endParaRPr sz="4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5"/>
          <p:cNvSpPr txBox="1"/>
          <p:nvPr/>
        </p:nvSpPr>
        <p:spPr>
          <a:xfrm>
            <a:off x="100000" y="183925"/>
            <a:ext cx="63768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Discussion</a:t>
            </a:r>
            <a:endParaRPr b="1"/>
          </a:p>
        </p:txBody>
      </p:sp>
      <p:sp>
        <p:nvSpPr>
          <p:cNvPr id="130" name="Google Shape;130;p15"/>
          <p:cNvSpPr txBox="1"/>
          <p:nvPr/>
        </p:nvSpPr>
        <p:spPr>
          <a:xfrm>
            <a:off x="6769390" y="6592494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endParaRPr/>
          </a:p>
        </p:txBody>
      </p:sp>
      <p:pic>
        <p:nvPicPr>
          <p:cNvPr descr="flowchart.png" id="131" name="Google Shape;13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000" y="950000"/>
            <a:ext cx="8900000" cy="339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5"/>
          <p:cNvSpPr txBox="1"/>
          <p:nvPr/>
        </p:nvSpPr>
        <p:spPr>
          <a:xfrm>
            <a:off x="164000" y="4480025"/>
            <a:ext cx="8838600" cy="15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2.02% overconfidence gap compounds across hundreds of daily AI suggestions — like financial debt.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The "Fluency Trap": syntactically correct AI code creates an illusion of correctness, discouraging verification.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26.4% Blind Trust users are miscalibrated 35% of the time — bugs silently enter production.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Verification debt should be tracked as a first-class metric alongside code coverage.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6"/>
          <p:cNvSpPr txBox="1"/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 </a:t>
            </a:r>
            <a:endParaRPr sz="4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6"/>
          <p:cNvSpPr txBox="1"/>
          <p:nvPr/>
        </p:nvSpPr>
        <p:spPr>
          <a:xfrm>
            <a:off x="164000" y="131375"/>
            <a:ext cx="6312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Mitigation Strategies</a:t>
            </a:r>
            <a:endParaRPr b="1"/>
          </a:p>
        </p:txBody>
      </p:sp>
      <p:sp>
        <p:nvSpPr>
          <p:cNvPr id="139" name="Google Shape;139;p16"/>
          <p:cNvSpPr txBox="1"/>
          <p:nvPr/>
        </p:nvSpPr>
        <p:spPr>
          <a:xfrm>
            <a:off x="6769390" y="6592494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endParaRPr/>
          </a:p>
        </p:txBody>
      </p:sp>
      <p:pic>
        <p:nvPicPr>
          <p:cNvPr descr="mitigation.png" id="140" name="Google Shape;14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000" y="950000"/>
            <a:ext cx="8900000" cy="28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6"/>
          <p:cNvSpPr txBox="1"/>
          <p:nvPr/>
        </p:nvSpPr>
        <p:spPr>
          <a:xfrm>
            <a:off x="164008" y="4000000"/>
            <a:ext cx="8838720" cy="2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Confidence-Aware Interfaces: show calibrated confidence with visual risk cues, not raw model scores.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Automated Verification Pipelines: Tier 1 (lint/static), Tier 2 (tests/security), Tier 3 (formal/expert review).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Verification Debt Dashboards: track % AI code by verification status, trends, and defect correlation.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Cultural Interventions: mandatory review for AI code in critical paths, pair programming, retrospectives.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7"/>
          <p:cNvSpPr txBox="1"/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 </a:t>
            </a:r>
            <a:endParaRPr sz="4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17"/>
          <p:cNvSpPr txBox="1"/>
          <p:nvPr/>
        </p:nvSpPr>
        <p:spPr>
          <a:xfrm>
            <a:off x="164000" y="170800"/>
            <a:ext cx="6312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 &amp; Future Scope</a:t>
            </a:r>
            <a:endParaRPr b="1"/>
          </a:p>
        </p:txBody>
      </p:sp>
      <p:sp>
        <p:nvSpPr>
          <p:cNvPr id="148" name="Google Shape;148;p17"/>
          <p:cNvSpPr txBox="1"/>
          <p:nvPr/>
        </p:nvSpPr>
        <p:spPr>
          <a:xfrm>
            <a:off x="6769390" y="6592494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164008" y="1050000"/>
            <a:ext cx="8838720" cy="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164008" y="1500000"/>
            <a:ext cx="8838720" cy="2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"Verification Debt" is a formal, measurable construct for AI-generated code risk.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AI models are systematically overconfident (2.02% gap); users trust highly (7.91/10) but 37.2% never verify.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Current events (+10.73%) and opinion-based (+10.52%) queries carry the highest debt.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Proposed multi-layered framework: confidence-aware interfaces, automated pipelines, dashboards, cultural change.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164008" y="3900000"/>
            <a:ext cx="8838720" cy="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Scope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164008" y="4350000"/>
            <a:ext cx="8838720" cy="2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Longitudinal studies tracking verification debt accumulation over time.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Automated tools for estimating verification debt in real codebases.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Controlled experiments to evaluate mitigation strategy effectiveness.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Integration of verification debt metrics into CI/CD pipelines and IDE tooling.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